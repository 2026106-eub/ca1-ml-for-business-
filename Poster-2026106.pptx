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3"/>
  </p:notesMasterIdLst>
  <p:sldIdLst>
    <p:sldId id="256"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834" userDrawn="1">
          <p15:clr>
            <a:srgbClr val="A4A3A4"/>
          </p15:clr>
        </p15:guide>
        <p15:guide id="2" pos="7211" userDrawn="1">
          <p15:clr>
            <a:srgbClr val="A4A3A4"/>
          </p15:clr>
        </p15:guide>
        <p15:guide id="3" pos="20520" userDrawn="1">
          <p15:clr>
            <a:srgbClr val="A4A3A4"/>
          </p15:clr>
        </p15:guide>
        <p15:guide id="4" orient="horz" pos="1931" userDrawn="1">
          <p15:clr>
            <a:srgbClr val="A4A3A4"/>
          </p15:clr>
        </p15:guide>
        <p15:guide id="5" orient="horz" pos="10368" userDrawn="1">
          <p15:clr>
            <a:srgbClr val="A4A3A4"/>
          </p15:clr>
        </p15:guide>
        <p15:guide id="6" pos="1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193"/>
    <a:srgbClr val="F6C6AD"/>
    <a:srgbClr val="86E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58"/>
    <p:restoredTop sz="95982"/>
  </p:normalViewPr>
  <p:slideViewPr>
    <p:cSldViewPr snapToGrid="0">
      <p:cViewPr varScale="1">
        <p:scale>
          <a:sx n="24" d="100"/>
          <a:sy n="24" d="100"/>
        </p:scale>
        <p:origin x="1408" y="240"/>
      </p:cViewPr>
      <p:guideLst>
        <p:guide orient="horz" pos="15834"/>
        <p:guide pos="7211"/>
        <p:guide pos="20520"/>
        <p:guide orient="horz" pos="1931"/>
        <p:guide orient="horz" pos="10368"/>
        <p:guide pos="1382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08C718-5FC8-ED47-8C4A-B4A0986ECB38}" type="datetimeFigureOut">
              <a:rPr lang="en-US" smtClean="0"/>
              <a:t>10/22/26</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B650E7-0189-BE47-9464-74A9C53168F2}" type="slidenum">
              <a:rPr lang="en-US" smtClean="0"/>
              <a:t>‹#›</a:t>
            </a:fld>
            <a:endParaRPr lang="en-US" dirty="0"/>
          </a:p>
        </p:txBody>
      </p:sp>
    </p:spTree>
    <p:extLst>
      <p:ext uri="{BB962C8B-B14F-4D97-AF65-F5344CB8AC3E}">
        <p14:creationId xmlns:p14="http://schemas.microsoft.com/office/powerpoint/2010/main" val="807601295"/>
      </p:ext>
    </p:extLst>
  </p:cSld>
  <p:clrMap bg1="lt1" tx1="dk1" bg2="lt2" tx2="dk2" accent1="accent1" accent2="accent2" accent3="accent3" accent4="accent4" accent5="accent5" accent6="accent6" hlink="hlink" folHlink="folHlink"/>
  <p:notesStyle>
    <a:lvl1pPr marL="0" algn="l" defTabSz="3686861" rtl="0" eaLnBrk="1" latinLnBrk="0" hangingPunct="1">
      <a:defRPr sz="4838" kern="1200">
        <a:solidFill>
          <a:schemeClr val="tx1"/>
        </a:solidFill>
        <a:latin typeface="+mn-lt"/>
        <a:ea typeface="+mn-ea"/>
        <a:cs typeface="+mn-cs"/>
      </a:defRPr>
    </a:lvl1pPr>
    <a:lvl2pPr marL="1843430" algn="l" defTabSz="3686861" rtl="0" eaLnBrk="1" latinLnBrk="0" hangingPunct="1">
      <a:defRPr sz="4838" kern="1200">
        <a:solidFill>
          <a:schemeClr val="tx1"/>
        </a:solidFill>
        <a:latin typeface="+mn-lt"/>
        <a:ea typeface="+mn-ea"/>
        <a:cs typeface="+mn-cs"/>
      </a:defRPr>
    </a:lvl2pPr>
    <a:lvl3pPr marL="3686861" algn="l" defTabSz="3686861" rtl="0" eaLnBrk="1" latinLnBrk="0" hangingPunct="1">
      <a:defRPr sz="4838" kern="1200">
        <a:solidFill>
          <a:schemeClr val="tx1"/>
        </a:solidFill>
        <a:latin typeface="+mn-lt"/>
        <a:ea typeface="+mn-ea"/>
        <a:cs typeface="+mn-cs"/>
      </a:defRPr>
    </a:lvl3pPr>
    <a:lvl4pPr marL="5530291" algn="l" defTabSz="3686861" rtl="0" eaLnBrk="1" latinLnBrk="0" hangingPunct="1">
      <a:defRPr sz="4838" kern="1200">
        <a:solidFill>
          <a:schemeClr val="tx1"/>
        </a:solidFill>
        <a:latin typeface="+mn-lt"/>
        <a:ea typeface="+mn-ea"/>
        <a:cs typeface="+mn-cs"/>
      </a:defRPr>
    </a:lvl4pPr>
    <a:lvl5pPr marL="7373722" algn="l" defTabSz="3686861" rtl="0" eaLnBrk="1" latinLnBrk="0" hangingPunct="1">
      <a:defRPr sz="4838" kern="1200">
        <a:solidFill>
          <a:schemeClr val="tx1"/>
        </a:solidFill>
        <a:latin typeface="+mn-lt"/>
        <a:ea typeface="+mn-ea"/>
        <a:cs typeface="+mn-cs"/>
      </a:defRPr>
    </a:lvl5pPr>
    <a:lvl6pPr marL="9217152" algn="l" defTabSz="3686861" rtl="0" eaLnBrk="1" latinLnBrk="0" hangingPunct="1">
      <a:defRPr sz="4838" kern="1200">
        <a:solidFill>
          <a:schemeClr val="tx1"/>
        </a:solidFill>
        <a:latin typeface="+mn-lt"/>
        <a:ea typeface="+mn-ea"/>
        <a:cs typeface="+mn-cs"/>
      </a:defRPr>
    </a:lvl6pPr>
    <a:lvl7pPr marL="11060582" algn="l" defTabSz="3686861" rtl="0" eaLnBrk="1" latinLnBrk="0" hangingPunct="1">
      <a:defRPr sz="4838" kern="1200">
        <a:solidFill>
          <a:schemeClr val="tx1"/>
        </a:solidFill>
        <a:latin typeface="+mn-lt"/>
        <a:ea typeface="+mn-ea"/>
        <a:cs typeface="+mn-cs"/>
      </a:defRPr>
    </a:lvl7pPr>
    <a:lvl8pPr marL="12904013" algn="l" defTabSz="3686861" rtl="0" eaLnBrk="1" latinLnBrk="0" hangingPunct="1">
      <a:defRPr sz="4838" kern="1200">
        <a:solidFill>
          <a:schemeClr val="tx1"/>
        </a:solidFill>
        <a:latin typeface="+mn-lt"/>
        <a:ea typeface="+mn-ea"/>
        <a:cs typeface="+mn-cs"/>
      </a:defRPr>
    </a:lvl8pPr>
    <a:lvl9pPr marL="14747443" algn="l" defTabSz="3686861" rtl="0" eaLnBrk="1" latinLnBrk="0" hangingPunct="1">
      <a:defRPr sz="4838"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233DF3-DD78-6C43-88B4-DD73046A9173}" type="datetimeFigureOut">
              <a:rPr lang="en-US" smtClean="0"/>
              <a:t>10/22/26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0621E9-60F5-8B4A-9242-C2329A17DB09}" type="slidenum">
              <a:rPr lang="en-US" smtClean="0"/>
              <a:t>‹#›</a:t>
            </a:fld>
            <a:endParaRPr lang="en-US" dirty="0"/>
          </a:p>
        </p:txBody>
      </p:sp>
    </p:spTree>
    <p:extLst>
      <p:ext uri="{BB962C8B-B14F-4D97-AF65-F5344CB8AC3E}">
        <p14:creationId xmlns:p14="http://schemas.microsoft.com/office/powerpoint/2010/main" val="32869713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233DF3-DD78-6C43-88B4-DD73046A9173}" type="datetimeFigureOut">
              <a:rPr lang="en-US" smtClean="0"/>
              <a:t>10/22/26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0621E9-60F5-8B4A-9242-C2329A17DB09}" type="slidenum">
              <a:rPr lang="en-US" smtClean="0"/>
              <a:t>‹#›</a:t>
            </a:fld>
            <a:endParaRPr lang="en-US" dirty="0"/>
          </a:p>
        </p:txBody>
      </p:sp>
    </p:spTree>
    <p:extLst>
      <p:ext uri="{BB962C8B-B14F-4D97-AF65-F5344CB8AC3E}">
        <p14:creationId xmlns:p14="http://schemas.microsoft.com/office/powerpoint/2010/main" val="639503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tint val="82000"/>
                  </a:schemeClr>
                </a:solidFill>
              </a:defRPr>
            </a:lvl1pPr>
            <a:lvl2pPr marL="2194560" indent="0">
              <a:buNone/>
              <a:defRPr sz="9600">
                <a:solidFill>
                  <a:schemeClr val="tx1">
                    <a:tint val="82000"/>
                  </a:schemeClr>
                </a:solidFill>
              </a:defRPr>
            </a:lvl2pPr>
            <a:lvl3pPr marL="4389120" indent="0">
              <a:buNone/>
              <a:defRPr sz="8640">
                <a:solidFill>
                  <a:schemeClr val="tx1">
                    <a:tint val="82000"/>
                  </a:schemeClr>
                </a:solidFill>
              </a:defRPr>
            </a:lvl3pPr>
            <a:lvl4pPr marL="6583680" indent="0">
              <a:buNone/>
              <a:defRPr sz="7680">
                <a:solidFill>
                  <a:schemeClr val="tx1">
                    <a:tint val="82000"/>
                  </a:schemeClr>
                </a:solidFill>
              </a:defRPr>
            </a:lvl4pPr>
            <a:lvl5pPr marL="8778240" indent="0">
              <a:buNone/>
              <a:defRPr sz="7680">
                <a:solidFill>
                  <a:schemeClr val="tx1">
                    <a:tint val="82000"/>
                  </a:schemeClr>
                </a:solidFill>
              </a:defRPr>
            </a:lvl5pPr>
            <a:lvl6pPr marL="10972800" indent="0">
              <a:buNone/>
              <a:defRPr sz="7680">
                <a:solidFill>
                  <a:schemeClr val="tx1">
                    <a:tint val="82000"/>
                  </a:schemeClr>
                </a:solidFill>
              </a:defRPr>
            </a:lvl6pPr>
            <a:lvl7pPr marL="13167360" indent="0">
              <a:buNone/>
              <a:defRPr sz="7680">
                <a:solidFill>
                  <a:schemeClr val="tx1">
                    <a:tint val="82000"/>
                  </a:schemeClr>
                </a:solidFill>
              </a:defRPr>
            </a:lvl7pPr>
            <a:lvl8pPr marL="15361920" indent="0">
              <a:buNone/>
              <a:defRPr sz="7680">
                <a:solidFill>
                  <a:schemeClr val="tx1">
                    <a:tint val="82000"/>
                  </a:schemeClr>
                </a:solidFill>
              </a:defRPr>
            </a:lvl8pPr>
            <a:lvl9pPr marL="17556480" indent="0">
              <a:buNone/>
              <a:defRPr sz="7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233DF3-DD78-6C43-88B4-DD73046A9173}" type="datetimeFigureOut">
              <a:rPr lang="en-US" smtClean="0"/>
              <a:t>10/22/26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0621E9-60F5-8B4A-9242-C2329A17DB09}" type="slidenum">
              <a:rPr lang="en-US" smtClean="0"/>
              <a:t>‹#›</a:t>
            </a:fld>
            <a:endParaRPr lang="en-US" dirty="0"/>
          </a:p>
        </p:txBody>
      </p:sp>
    </p:spTree>
    <p:extLst>
      <p:ext uri="{BB962C8B-B14F-4D97-AF65-F5344CB8AC3E}">
        <p14:creationId xmlns:p14="http://schemas.microsoft.com/office/powerpoint/2010/main" val="271451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233DF3-DD78-6C43-88B4-DD73046A9173}" type="datetimeFigureOut">
              <a:rPr lang="en-US" smtClean="0"/>
              <a:t>10/22/26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80621E9-60F5-8B4A-9242-C2329A17DB09}" type="slidenum">
              <a:rPr lang="en-US" smtClean="0"/>
              <a:t>‹#›</a:t>
            </a:fld>
            <a:endParaRPr lang="en-US" dirty="0"/>
          </a:p>
        </p:txBody>
      </p:sp>
    </p:spTree>
    <p:extLst>
      <p:ext uri="{BB962C8B-B14F-4D97-AF65-F5344CB8AC3E}">
        <p14:creationId xmlns:p14="http://schemas.microsoft.com/office/powerpoint/2010/main" val="1373324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233DF3-DD78-6C43-88B4-DD73046A9173}" type="datetimeFigureOut">
              <a:rPr lang="en-US" smtClean="0"/>
              <a:t>10/22/26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80621E9-60F5-8B4A-9242-C2329A17DB09}" type="slidenum">
              <a:rPr lang="en-US" smtClean="0"/>
              <a:t>‹#›</a:t>
            </a:fld>
            <a:endParaRPr lang="en-US" dirty="0"/>
          </a:p>
        </p:txBody>
      </p:sp>
    </p:spTree>
    <p:extLst>
      <p:ext uri="{BB962C8B-B14F-4D97-AF65-F5344CB8AC3E}">
        <p14:creationId xmlns:p14="http://schemas.microsoft.com/office/powerpoint/2010/main" val="948988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233DF3-DD78-6C43-88B4-DD73046A9173}" type="datetimeFigureOut">
              <a:rPr lang="en-US" smtClean="0"/>
              <a:t>10/22/26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0621E9-60F5-8B4A-9242-C2329A17DB09}" type="slidenum">
              <a:rPr lang="en-US" smtClean="0"/>
              <a:t>‹#›</a:t>
            </a:fld>
            <a:endParaRPr lang="en-US" dirty="0"/>
          </a:p>
        </p:txBody>
      </p:sp>
    </p:spTree>
    <p:extLst>
      <p:ext uri="{BB962C8B-B14F-4D97-AF65-F5344CB8AC3E}">
        <p14:creationId xmlns:p14="http://schemas.microsoft.com/office/powerpoint/2010/main" val="3931981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233DF3-DD78-6C43-88B4-DD73046A9173}" type="datetimeFigureOut">
              <a:rPr lang="en-US" smtClean="0"/>
              <a:t>10/22/26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80621E9-60F5-8B4A-9242-C2329A17DB09}" type="slidenum">
              <a:rPr lang="en-US" smtClean="0"/>
              <a:t>‹#›</a:t>
            </a:fld>
            <a:endParaRPr lang="en-US" dirty="0"/>
          </a:p>
        </p:txBody>
      </p:sp>
    </p:spTree>
    <p:extLst>
      <p:ext uri="{BB962C8B-B14F-4D97-AF65-F5344CB8AC3E}">
        <p14:creationId xmlns:p14="http://schemas.microsoft.com/office/powerpoint/2010/main" val="3768733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DD233DF3-DD78-6C43-88B4-DD73046A9173}" type="datetimeFigureOut">
              <a:rPr lang="en-US" smtClean="0"/>
              <a:t>10/22/26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80621E9-60F5-8B4A-9242-C2329A17DB09}" type="slidenum">
              <a:rPr lang="en-US" smtClean="0"/>
              <a:t>‹#›</a:t>
            </a:fld>
            <a:endParaRPr lang="en-US" dirty="0"/>
          </a:p>
        </p:txBody>
      </p:sp>
    </p:spTree>
    <p:extLst>
      <p:ext uri="{BB962C8B-B14F-4D97-AF65-F5344CB8AC3E}">
        <p14:creationId xmlns:p14="http://schemas.microsoft.com/office/powerpoint/2010/main" val="830607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DD233DF3-DD78-6C43-88B4-DD73046A9173}" type="datetimeFigureOut">
              <a:rPr lang="en-US" smtClean="0"/>
              <a:t>10/22/26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80621E9-60F5-8B4A-9242-C2329A17DB09}" type="slidenum">
              <a:rPr lang="en-US" smtClean="0"/>
              <a:t>‹#›</a:t>
            </a:fld>
            <a:endParaRPr lang="en-US" dirty="0"/>
          </a:p>
        </p:txBody>
      </p:sp>
    </p:spTree>
    <p:extLst>
      <p:ext uri="{BB962C8B-B14F-4D97-AF65-F5344CB8AC3E}">
        <p14:creationId xmlns:p14="http://schemas.microsoft.com/office/powerpoint/2010/main" val="2202652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233DF3-DD78-6C43-88B4-DD73046A9173}" type="datetimeFigureOut">
              <a:rPr lang="en-US" smtClean="0"/>
              <a:t>10/22/26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0621E9-60F5-8B4A-9242-C2329A17DB09}" type="slidenum">
              <a:rPr lang="en-US" smtClean="0"/>
              <a:t>‹#›</a:t>
            </a:fld>
            <a:endParaRPr lang="en-US" dirty="0"/>
          </a:p>
        </p:txBody>
      </p:sp>
    </p:spTree>
    <p:extLst>
      <p:ext uri="{BB962C8B-B14F-4D97-AF65-F5344CB8AC3E}">
        <p14:creationId xmlns:p14="http://schemas.microsoft.com/office/powerpoint/2010/main" val="2222193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233DF3-DD78-6C43-88B4-DD73046A9173}" type="datetimeFigureOut">
              <a:rPr lang="en-US" smtClean="0"/>
              <a:t>10/22/26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0621E9-60F5-8B4A-9242-C2329A17DB09}" type="slidenum">
              <a:rPr lang="en-US" smtClean="0"/>
              <a:t>‹#›</a:t>
            </a:fld>
            <a:endParaRPr lang="en-US" dirty="0"/>
          </a:p>
        </p:txBody>
      </p:sp>
    </p:spTree>
    <p:extLst>
      <p:ext uri="{BB962C8B-B14F-4D97-AF65-F5344CB8AC3E}">
        <p14:creationId xmlns:p14="http://schemas.microsoft.com/office/powerpoint/2010/main" val="2326947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82000"/>
                  </a:schemeClr>
                </a:solidFill>
              </a:defRPr>
            </a:lvl1pPr>
          </a:lstStyle>
          <a:p>
            <a:fld id="{DD233DF3-DD78-6C43-88B4-DD73046A9173}" type="datetimeFigureOut">
              <a:rPr lang="en-US" smtClean="0"/>
              <a:t>10/22/26</a:t>
            </a:fld>
            <a:endParaRPr lang="en-US" dirty="0"/>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82000"/>
                  </a:schemeClr>
                </a:solidFill>
              </a:defRPr>
            </a:lvl1pPr>
          </a:lstStyle>
          <a:p>
            <a:fld id="{C80621E9-60F5-8B4A-9242-C2329A17DB09}" type="slidenum">
              <a:rPr lang="en-US" smtClean="0"/>
              <a:t>‹#›</a:t>
            </a:fld>
            <a:endParaRPr lang="en-US" dirty="0"/>
          </a:p>
        </p:txBody>
      </p:sp>
    </p:spTree>
    <p:extLst>
      <p:ext uri="{BB962C8B-B14F-4D97-AF65-F5344CB8AC3E}">
        <p14:creationId xmlns:p14="http://schemas.microsoft.com/office/powerpoint/2010/main" val="428276444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scikit-learn.org/stable/modules/clustering.html" TargetMode="External"/><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hyperlink" Target="https://finance.yahoo.com/quote/%5EPFE/history/" TargetMode="External"/><Relationship Id="rId10" Type="http://schemas.openxmlformats.org/officeDocument/2006/relationships/image" Target="../media/image6.png"/><Relationship Id="rId4" Type="http://schemas.openxmlformats.org/officeDocument/2006/relationships/hyperlink" Target="https://doi.org/10.24432/C5X623" TargetMode="External"/><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6F3C9CC2-635A-5B2E-C9E3-B51C6FC3F98C}"/>
              </a:ext>
            </a:extLst>
          </p:cNvPr>
          <p:cNvSpPr txBox="1"/>
          <p:nvPr/>
        </p:nvSpPr>
        <p:spPr>
          <a:xfrm>
            <a:off x="704885" y="5128785"/>
            <a:ext cx="10075616" cy="7294305"/>
          </a:xfrm>
          <a:prstGeom prst="rect">
            <a:avLst/>
          </a:prstGeom>
          <a:noFill/>
        </p:spPr>
        <p:txBody>
          <a:bodyPr wrap="square" rtlCol="0">
            <a:spAutoFit/>
          </a:bodyPr>
          <a:lstStyle/>
          <a:p>
            <a:pPr algn="just"/>
            <a:r>
              <a:rPr lang="en-GB" sz="3600" b="1" dirty="0">
                <a:latin typeface="Arial" panose="020B0604020202020204" pitchFamily="34" charset="0"/>
                <a:cs typeface="Arial" panose="020B0604020202020204" pitchFamily="34" charset="0"/>
              </a:rPr>
              <a:t>Objectives </a:t>
            </a:r>
            <a:endParaRPr lang="en-GB" sz="3600" dirty="0">
              <a:latin typeface="Arial" panose="020B0604020202020204" pitchFamily="34" charset="0"/>
              <a:cs typeface="Arial" panose="020B0604020202020204" pitchFamily="34" charset="0"/>
            </a:endParaRPr>
          </a:p>
          <a:p>
            <a:pPr algn="just"/>
            <a:r>
              <a:rPr lang="en-GB" sz="3600" dirty="0">
                <a:latin typeface="Arial" panose="020B0604020202020204" pitchFamily="34" charset="0"/>
                <a:cs typeface="Arial" panose="020B0604020202020204" pitchFamily="34" charset="0"/>
              </a:rPr>
              <a:t>If we cluster using price/ square feet, would groups like ‘expensive’, ‘cheap’ and ‘price does not match its size’ merge. For instance, a listing of $1560 for 200 square feet might be far from most listings.  Regarding renting ads in USA.</a:t>
            </a:r>
          </a:p>
          <a:p>
            <a:pPr algn="just"/>
            <a:endParaRPr lang="en-GB" sz="3600" dirty="0">
              <a:latin typeface="Arial" panose="020B0604020202020204" pitchFamily="34" charset="0"/>
              <a:cs typeface="Arial" panose="020B0604020202020204" pitchFamily="34" charset="0"/>
            </a:endParaRPr>
          </a:p>
          <a:p>
            <a:pPr algn="just"/>
            <a:r>
              <a:rPr lang="en-GB" sz="3600" dirty="0">
                <a:latin typeface="Arial" panose="020B0604020202020204" pitchFamily="34" charset="0"/>
                <a:cs typeface="Arial" panose="020B0604020202020204" pitchFamily="34" charset="0"/>
              </a:rPr>
              <a:t>Stock prices are noisy and non-stationary. This part of analysis  dedicates how ARIMA model can describe the daily closing price of Pfizer and what uncertainty surrounds its short =term forecasts. </a:t>
            </a:r>
          </a:p>
          <a:p>
            <a:pPr algn="just"/>
            <a:endParaRPr lang="en-GB" sz="3600"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457732AA-B500-F24B-47A5-162DE26DB99F}"/>
              </a:ext>
            </a:extLst>
          </p:cNvPr>
          <p:cNvSpPr txBox="1"/>
          <p:nvPr/>
        </p:nvSpPr>
        <p:spPr>
          <a:xfrm>
            <a:off x="709693" y="13207920"/>
            <a:ext cx="9994336" cy="19482256"/>
          </a:xfrm>
          <a:prstGeom prst="rect">
            <a:avLst/>
          </a:prstGeom>
          <a:noFill/>
        </p:spPr>
        <p:txBody>
          <a:bodyPr wrap="square" rtlCol="0">
            <a:spAutoFit/>
          </a:bodyPr>
          <a:lstStyle/>
          <a:p>
            <a:pPr algn="just"/>
            <a:r>
              <a:rPr lang="en-GB" sz="3600" b="1" u="sng" dirty="0">
                <a:latin typeface="Arial" panose="020B0604020202020204" pitchFamily="34" charset="0"/>
                <a:cs typeface="Arial" panose="020B0604020202020204" pitchFamily="34" charset="0"/>
              </a:rPr>
              <a:t>Clustering</a:t>
            </a:r>
          </a:p>
          <a:p>
            <a:pPr algn="just"/>
            <a:r>
              <a:rPr lang="en-GB" sz="3600" dirty="0">
                <a:latin typeface="Arial" panose="020B0604020202020204" pitchFamily="34" charset="0"/>
                <a:cs typeface="Arial" panose="020B0604020202020204" pitchFamily="34" charset="0"/>
              </a:rPr>
              <a:t>10000 rental listings (</a:t>
            </a:r>
            <a:r>
              <a:rPr lang="en-US" sz="3600" dirty="0">
                <a:latin typeface="Arial" panose="020B0604020202020204" pitchFamily="34" charset="0"/>
                <a:cs typeface="Arial" panose="020B0604020202020204" pitchFamily="34" charset="0"/>
              </a:rPr>
              <a:t>id, category, title, body, amenities, bathrooms, bedrooms, fee, has photo, pets allowed, price, price display, price type, square, city name, state, latitude, longitude, source, time</a:t>
            </a:r>
            <a:r>
              <a:rPr lang="en-GB" sz="3600" dirty="0">
                <a:latin typeface="Arial" panose="020B0604020202020204" pitchFamily="34" charset="0"/>
                <a:cs typeface="Arial" panose="020B0604020202020204" pitchFamily="34" charset="0"/>
              </a:rPr>
              <a:t>). Dataset is cleaned and most necessary features are selected (e.g. bathrooms, bedrooms, square feet, price, city name) for clustering.</a:t>
            </a:r>
          </a:p>
          <a:p>
            <a:pPr algn="just"/>
            <a:r>
              <a:rPr lang="en-GB" sz="3600" dirty="0">
                <a:latin typeface="Arial" panose="020B0604020202020204" pitchFamily="34" charset="0"/>
                <a:cs typeface="Arial" panose="020B0604020202020204" pitchFamily="34" charset="0"/>
              </a:rPr>
              <a:t>Prices were converted to numeric values, restricted to monthly rents, log-transformed and standardized both square meter and price are before clustering.</a:t>
            </a:r>
          </a:p>
          <a:p>
            <a:pPr algn="just"/>
            <a:r>
              <a:rPr lang="en-GB" sz="3600" dirty="0">
                <a:latin typeface="Arial" panose="020B0604020202020204" pitchFamily="34" charset="0"/>
                <a:cs typeface="Arial" panose="020B0604020202020204" pitchFamily="34" charset="0"/>
              </a:rPr>
              <a:t>K-Means number of clusters chosen with The Elbow method. Agglomerative ward linkage with Euclidean distance on standardized price and square footage, the Dendrogram is used to choose of the number of clusters. DBSCAN density  based clustering used as a comparison for outlier detection. </a:t>
            </a:r>
            <a:endParaRPr lang="en-GB" sz="3600" b="1" dirty="0">
              <a:latin typeface="Arial" panose="020B0604020202020204" pitchFamily="34" charset="0"/>
              <a:cs typeface="Arial" panose="020B0604020202020204" pitchFamily="34" charset="0"/>
            </a:endParaRPr>
          </a:p>
          <a:p>
            <a:pPr algn="just"/>
            <a:r>
              <a:rPr lang="en-GB" sz="3600" b="1" u="sng" dirty="0">
                <a:latin typeface="Arial" panose="020B0604020202020204" pitchFamily="34" charset="0"/>
                <a:cs typeface="Arial" panose="020B0604020202020204" pitchFamily="34" charset="0"/>
              </a:rPr>
              <a:t>Time Series</a:t>
            </a:r>
          </a:p>
          <a:p>
            <a:pPr algn="just"/>
            <a:r>
              <a:rPr lang="en-GB" sz="3600" dirty="0">
                <a:latin typeface="Arial" panose="020B0604020202020204" pitchFamily="34" charset="0"/>
                <a:cs typeface="Arial" panose="020B0604020202020204" pitchFamily="34" charset="0"/>
              </a:rPr>
              <a:t>Dataset contains last 10 years stock market record which is total 2523 rows and 5 columns daily closing prices Pfizer (Yahoo Finance). </a:t>
            </a:r>
          </a:p>
          <a:p>
            <a:pPr algn="just"/>
            <a:r>
              <a:rPr lang="en-GB" sz="3600" dirty="0">
                <a:latin typeface="Arial" panose="020B0604020202020204" pitchFamily="34" charset="0"/>
                <a:cs typeface="Arial" panose="020B0604020202020204" pitchFamily="34" charset="0"/>
              </a:rPr>
              <a:t>Checked  stationarity. ‘Augmented Dickie-Fuller’ test on closing price (statistic result: </a:t>
            </a:r>
            <a:r>
              <a:rPr lang="en-GB" sz="3600" dirty="0" err="1">
                <a:latin typeface="Arial" panose="020B0604020202020204" pitchFamily="34" charset="0"/>
                <a:cs typeface="Arial" panose="020B0604020202020204" pitchFamily="34" charset="0"/>
              </a:rPr>
              <a:t>adf</a:t>
            </a:r>
            <a:r>
              <a:rPr lang="en-GB" sz="3600" dirty="0">
                <a:latin typeface="Arial" panose="020B0604020202020204" pitchFamily="34" charset="0"/>
                <a:cs typeface="Arial" panose="020B0604020202020204" pitchFamily="34" charset="0"/>
              </a:rPr>
              <a:t>= -2.03</a:t>
            </a:r>
            <a:r>
              <a:rPr lang="en-GB" sz="3600" b="1" dirty="0">
                <a:latin typeface="Arial" panose="020B0604020202020204" pitchFamily="34" charset="0"/>
                <a:cs typeface="Arial" panose="020B0604020202020204" pitchFamily="34" charset="0"/>
              </a:rPr>
              <a:t> </a:t>
            </a:r>
            <a:r>
              <a:rPr lang="en-GB" sz="3600" dirty="0">
                <a:latin typeface="Arial" panose="020B0604020202020204" pitchFamily="34" charset="0"/>
                <a:cs typeface="Arial" panose="020B0604020202020204" pitchFamily="34" charset="0"/>
              </a:rPr>
              <a:t>, p-value=0.275) and first-order differencing (d=1) applied. Selected ARIMA (2,1,2 min=2922.66). Measured accuracy with ‘R2 score’(result= 0.9943). Produced forecasts with 80% and 95% confidence intervals.</a:t>
            </a:r>
          </a:p>
          <a:p>
            <a:pPr algn="just"/>
            <a:r>
              <a:rPr lang="en-GB" sz="3600" dirty="0">
                <a:latin typeface="Arial" panose="020B0604020202020204" pitchFamily="34" charset="0"/>
                <a:cs typeface="Arial" panose="020B0604020202020204" pitchFamily="34" charset="0"/>
              </a:rPr>
              <a:t>QQ plot of the closing price shows a slight S shape deviation from the normal line, indicating heavy tails and non-normal distribution. </a:t>
            </a:r>
          </a:p>
          <a:p>
            <a:pPr algn="just"/>
            <a:endParaRPr lang="en-GB" sz="36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3BF13076-2E03-5CB9-06FB-E2BDC1F34D42}"/>
              </a:ext>
            </a:extLst>
          </p:cNvPr>
          <p:cNvSpPr txBox="1"/>
          <p:nvPr/>
        </p:nvSpPr>
        <p:spPr>
          <a:xfrm>
            <a:off x="704886" y="12075702"/>
            <a:ext cx="9999143" cy="919119"/>
          </a:xfrm>
          <a:prstGeom prst="rect">
            <a:avLst/>
          </a:prstGeom>
          <a:solidFill>
            <a:srgbClr val="F6C6AD"/>
          </a:solidFill>
        </p:spPr>
        <p:txBody>
          <a:bodyPr wrap="square" rtlCol="0">
            <a:spAutoFit/>
          </a:bodyPr>
          <a:lstStyle/>
          <a:p>
            <a:pPr algn="just"/>
            <a:r>
              <a:rPr lang="en-GB" sz="5400" b="1" dirty="0">
                <a:latin typeface="Arial" panose="020B0604020202020204" pitchFamily="34" charset="0"/>
                <a:cs typeface="Arial" panose="020B0604020202020204" pitchFamily="34" charset="0"/>
              </a:rPr>
              <a:t>Methods and Materials</a:t>
            </a:r>
          </a:p>
        </p:txBody>
      </p:sp>
      <p:sp>
        <p:nvSpPr>
          <p:cNvPr id="16" name="TextBox 15">
            <a:extLst>
              <a:ext uri="{FF2B5EF4-FFF2-40B4-BE49-F238E27FC236}">
                <a16:creationId xmlns:a16="http://schemas.microsoft.com/office/drawing/2014/main" id="{D931A304-A718-084C-BB59-BD501F848AE4}"/>
              </a:ext>
            </a:extLst>
          </p:cNvPr>
          <p:cNvSpPr txBox="1"/>
          <p:nvPr/>
        </p:nvSpPr>
        <p:spPr>
          <a:xfrm>
            <a:off x="13027760" y="3831156"/>
            <a:ext cx="18064765" cy="923330"/>
          </a:xfrm>
          <a:prstGeom prst="rect">
            <a:avLst/>
          </a:prstGeom>
          <a:solidFill>
            <a:srgbClr val="F6C6AD"/>
          </a:solidFill>
        </p:spPr>
        <p:txBody>
          <a:bodyPr wrap="square" rtlCol="0">
            <a:spAutoFit/>
          </a:bodyPr>
          <a:lstStyle/>
          <a:p>
            <a:pPr algn="ctr"/>
            <a:r>
              <a:rPr lang="en-GB" sz="5400" b="1" dirty="0">
                <a:latin typeface="Arial" panose="020B0604020202020204" pitchFamily="34" charset="0"/>
                <a:cs typeface="Arial" panose="020B0604020202020204" pitchFamily="34" charset="0"/>
              </a:rPr>
              <a:t>Results</a:t>
            </a:r>
          </a:p>
        </p:txBody>
      </p:sp>
      <p:sp>
        <p:nvSpPr>
          <p:cNvPr id="17" name="TextBox 16">
            <a:extLst>
              <a:ext uri="{FF2B5EF4-FFF2-40B4-BE49-F238E27FC236}">
                <a16:creationId xmlns:a16="http://schemas.microsoft.com/office/drawing/2014/main" id="{5A4248F0-68CB-4BF1-F6EC-F348C6BA2A49}"/>
              </a:ext>
            </a:extLst>
          </p:cNvPr>
          <p:cNvSpPr txBox="1"/>
          <p:nvPr/>
        </p:nvSpPr>
        <p:spPr>
          <a:xfrm>
            <a:off x="33369821" y="12746255"/>
            <a:ext cx="9146308" cy="923330"/>
          </a:xfrm>
          <a:prstGeom prst="rect">
            <a:avLst/>
          </a:prstGeom>
          <a:solidFill>
            <a:srgbClr val="F6C6AD"/>
          </a:solidFill>
        </p:spPr>
        <p:txBody>
          <a:bodyPr wrap="square" rtlCol="0">
            <a:spAutoFit/>
          </a:bodyPr>
          <a:lstStyle/>
          <a:p>
            <a:pPr algn="just"/>
            <a:r>
              <a:rPr lang="en-GB" sz="5400" b="1" dirty="0">
                <a:latin typeface="Arial" panose="020B0604020202020204" pitchFamily="34" charset="0"/>
                <a:cs typeface="Arial" panose="020B0604020202020204" pitchFamily="34" charset="0"/>
              </a:rPr>
              <a:t>Conclusion</a:t>
            </a:r>
          </a:p>
        </p:txBody>
      </p:sp>
      <p:sp>
        <p:nvSpPr>
          <p:cNvPr id="18" name="TextBox 17">
            <a:extLst>
              <a:ext uri="{FF2B5EF4-FFF2-40B4-BE49-F238E27FC236}">
                <a16:creationId xmlns:a16="http://schemas.microsoft.com/office/drawing/2014/main" id="{DA50E4DF-8F6A-AC37-340E-63645D7852F0}"/>
              </a:ext>
            </a:extLst>
          </p:cNvPr>
          <p:cNvSpPr txBox="1"/>
          <p:nvPr/>
        </p:nvSpPr>
        <p:spPr>
          <a:xfrm>
            <a:off x="704885" y="3831917"/>
            <a:ext cx="9999144" cy="923330"/>
          </a:xfrm>
          <a:prstGeom prst="rect">
            <a:avLst/>
          </a:prstGeom>
          <a:solidFill>
            <a:srgbClr val="F6C6AD"/>
          </a:solidFill>
        </p:spPr>
        <p:txBody>
          <a:bodyPr wrap="square" rtlCol="0">
            <a:spAutoFit/>
          </a:bodyPr>
          <a:lstStyle/>
          <a:p>
            <a:pPr algn="just"/>
            <a:r>
              <a:rPr lang="en-GB" sz="5400" b="1" dirty="0">
                <a:latin typeface="Arial" panose="020B0604020202020204" pitchFamily="34" charset="0"/>
                <a:cs typeface="Arial" panose="020B0604020202020204" pitchFamily="34" charset="0"/>
              </a:rPr>
              <a:t>Introduction</a:t>
            </a:r>
          </a:p>
        </p:txBody>
      </p:sp>
      <p:sp>
        <p:nvSpPr>
          <p:cNvPr id="19" name="TextBox 18">
            <a:extLst>
              <a:ext uri="{FF2B5EF4-FFF2-40B4-BE49-F238E27FC236}">
                <a16:creationId xmlns:a16="http://schemas.microsoft.com/office/drawing/2014/main" id="{0C903691-E708-F354-8661-3DD5951D6705}"/>
              </a:ext>
            </a:extLst>
          </p:cNvPr>
          <p:cNvSpPr txBox="1"/>
          <p:nvPr/>
        </p:nvSpPr>
        <p:spPr>
          <a:xfrm>
            <a:off x="33369821" y="24060698"/>
            <a:ext cx="9146308" cy="923330"/>
          </a:xfrm>
          <a:prstGeom prst="rect">
            <a:avLst/>
          </a:prstGeom>
          <a:solidFill>
            <a:srgbClr val="F6C6AD"/>
          </a:solidFill>
        </p:spPr>
        <p:txBody>
          <a:bodyPr wrap="square" rtlCol="0">
            <a:spAutoFit/>
          </a:bodyPr>
          <a:lstStyle/>
          <a:p>
            <a:pPr algn="just"/>
            <a:r>
              <a:rPr lang="en-GB" sz="5400" b="1" dirty="0">
                <a:latin typeface="Arial" panose="020B0604020202020204" pitchFamily="34" charset="0"/>
                <a:cs typeface="Arial" panose="020B0604020202020204" pitchFamily="34" charset="0"/>
              </a:rPr>
              <a:t>References</a:t>
            </a:r>
          </a:p>
        </p:txBody>
      </p:sp>
      <p:sp>
        <p:nvSpPr>
          <p:cNvPr id="20" name="TextBox 19">
            <a:extLst>
              <a:ext uri="{FF2B5EF4-FFF2-40B4-BE49-F238E27FC236}">
                <a16:creationId xmlns:a16="http://schemas.microsoft.com/office/drawing/2014/main" id="{5551104D-894A-EE5A-97BD-DA98583EEC39}"/>
              </a:ext>
            </a:extLst>
          </p:cNvPr>
          <p:cNvSpPr txBox="1"/>
          <p:nvPr/>
        </p:nvSpPr>
        <p:spPr>
          <a:xfrm>
            <a:off x="13596923" y="4963487"/>
            <a:ext cx="2975495" cy="769441"/>
          </a:xfrm>
          <a:prstGeom prst="rect">
            <a:avLst/>
          </a:prstGeom>
          <a:noFill/>
        </p:spPr>
        <p:txBody>
          <a:bodyPr wrap="none" rtlCol="0">
            <a:spAutoFit/>
          </a:bodyPr>
          <a:lstStyle/>
          <a:p>
            <a:pPr algn="just"/>
            <a:r>
              <a:rPr lang="en-US" sz="4400" b="1" u="sng" dirty="0">
                <a:latin typeface="Arial" panose="020B0604020202020204" pitchFamily="34" charset="0"/>
                <a:cs typeface="Arial" panose="020B0604020202020204" pitchFamily="34" charset="0"/>
              </a:rPr>
              <a:t>Clustering</a:t>
            </a:r>
          </a:p>
        </p:txBody>
      </p:sp>
      <p:pic>
        <p:nvPicPr>
          <p:cNvPr id="29" name="Picture 28" descr="Figure 3">
            <a:extLst>
              <a:ext uri="{FF2B5EF4-FFF2-40B4-BE49-F238E27FC236}">
                <a16:creationId xmlns:a16="http://schemas.microsoft.com/office/drawing/2014/main" id="{B1DE3AA3-A056-C4E4-8215-5CE1C8F09EE9}"/>
              </a:ext>
            </a:extLst>
          </p:cNvPr>
          <p:cNvPicPr>
            <a:picLocks noChangeAspect="1"/>
          </p:cNvPicPr>
          <p:nvPr/>
        </p:nvPicPr>
        <p:blipFill>
          <a:blip r:embed="rId2"/>
          <a:stretch>
            <a:fillRect/>
          </a:stretch>
        </p:blipFill>
        <p:spPr>
          <a:xfrm>
            <a:off x="11714810" y="17690956"/>
            <a:ext cx="9423525" cy="4973491"/>
          </a:xfrm>
          <a:prstGeom prst="rect">
            <a:avLst/>
          </a:prstGeom>
        </p:spPr>
      </p:pic>
      <p:sp>
        <p:nvSpPr>
          <p:cNvPr id="34" name="TextBox 33">
            <a:extLst>
              <a:ext uri="{FF2B5EF4-FFF2-40B4-BE49-F238E27FC236}">
                <a16:creationId xmlns:a16="http://schemas.microsoft.com/office/drawing/2014/main" id="{AF0698FA-100E-F42C-9891-3758865214D8}"/>
              </a:ext>
            </a:extLst>
          </p:cNvPr>
          <p:cNvSpPr txBox="1"/>
          <p:nvPr/>
        </p:nvSpPr>
        <p:spPr>
          <a:xfrm>
            <a:off x="32969453" y="25228102"/>
            <a:ext cx="9749423" cy="7848302"/>
          </a:xfrm>
          <a:prstGeom prst="rect">
            <a:avLst/>
          </a:prstGeom>
          <a:noFill/>
        </p:spPr>
        <p:txBody>
          <a:bodyPr wrap="square" rtlCol="0">
            <a:spAutoFit/>
          </a:bodyPr>
          <a:lstStyle/>
          <a:p>
            <a:pPr marL="1234409" indent="-1234409" algn="just">
              <a:buAutoNum type="arabicPeriod"/>
            </a:pPr>
            <a:r>
              <a:rPr lang="en-US" sz="2800" i="1" dirty="0">
                <a:latin typeface="Arial" panose="020B0604020202020204" pitchFamily="34" charset="0"/>
                <a:cs typeface="Arial" panose="020B0604020202020204" pitchFamily="34" charset="0"/>
              </a:rPr>
              <a:t>Lecture 1, Clustering Introduction, Muhammad Iqbal, 2026,</a:t>
            </a:r>
          </a:p>
          <a:p>
            <a:pPr marL="1234409" indent="-1234409" algn="just">
              <a:buAutoNum type="arabicPeriod"/>
            </a:pPr>
            <a:r>
              <a:rPr lang="en-US" sz="2800" i="1" dirty="0">
                <a:latin typeface="Arial" panose="020B0604020202020204" pitchFamily="34" charset="0"/>
                <a:cs typeface="Arial" panose="020B0604020202020204" pitchFamily="34" charset="0"/>
              </a:rPr>
              <a:t>Lecture 2,3 ,4  Clustering Model, “DBCAN”, “</a:t>
            </a:r>
            <a:r>
              <a:rPr lang="en-US" sz="2800" i="1" dirty="0" err="1">
                <a:latin typeface="Arial" panose="020B0604020202020204" pitchFamily="34" charset="0"/>
                <a:cs typeface="Arial" panose="020B0604020202020204" pitchFamily="34" charset="0"/>
              </a:rPr>
              <a:t>KMeans</a:t>
            </a:r>
            <a:r>
              <a:rPr lang="en-US" sz="2800" i="1" dirty="0">
                <a:latin typeface="Arial" panose="020B0604020202020204" pitchFamily="34" charset="0"/>
                <a:cs typeface="Arial" panose="020B0604020202020204" pitchFamily="34" charset="0"/>
              </a:rPr>
              <a:t>”, “Hierarchy ” Muhammad Iqbal, 2026,</a:t>
            </a:r>
          </a:p>
          <a:p>
            <a:pPr marL="1234409" indent="-1234409" algn="just">
              <a:buFontTx/>
              <a:buAutoNum type="arabicPeriod"/>
            </a:pPr>
            <a:r>
              <a:rPr lang="en-US" sz="2800" i="1" dirty="0">
                <a:latin typeface="Arial" panose="020B0604020202020204" pitchFamily="34" charset="0"/>
                <a:cs typeface="Arial" panose="020B0604020202020204" pitchFamily="34" charset="0"/>
              </a:rPr>
              <a:t>Lecture 6, Time Series Analysis Muhammad Iqbal, 2026,</a:t>
            </a:r>
          </a:p>
          <a:p>
            <a:pPr marL="1234409" indent="-1234409" algn="just">
              <a:buAutoNum type="arabicPeriod"/>
            </a:pPr>
            <a:r>
              <a:rPr lang="en-US" sz="2800" i="1" dirty="0">
                <a:latin typeface="Arial" panose="020B0604020202020204" pitchFamily="34" charset="0"/>
                <a:cs typeface="Arial" panose="020B0604020202020204" pitchFamily="34" charset="0"/>
              </a:rPr>
              <a:t>Tutorial 1,2,3  Clustering Model, “DBCAN”, “</a:t>
            </a:r>
            <a:r>
              <a:rPr lang="en-US" sz="2800" i="1" dirty="0" err="1">
                <a:latin typeface="Arial" panose="020B0604020202020204" pitchFamily="34" charset="0"/>
                <a:cs typeface="Arial" panose="020B0604020202020204" pitchFamily="34" charset="0"/>
              </a:rPr>
              <a:t>KMeans</a:t>
            </a:r>
            <a:r>
              <a:rPr lang="en-US" sz="2800" i="1" dirty="0">
                <a:latin typeface="Arial" panose="020B0604020202020204" pitchFamily="34" charset="0"/>
                <a:cs typeface="Arial" panose="020B0604020202020204" pitchFamily="34" charset="0"/>
              </a:rPr>
              <a:t>”, “Hierarchy ” Muhammad Iqbal, 2026,</a:t>
            </a:r>
          </a:p>
          <a:p>
            <a:pPr marL="1234409" indent="-1234409" algn="just">
              <a:buAutoNum type="arabicPeriod"/>
            </a:pPr>
            <a:r>
              <a:rPr lang="en-US" sz="2800" i="1" dirty="0">
                <a:latin typeface="Arial" panose="020B0604020202020204" pitchFamily="34" charset="0"/>
                <a:cs typeface="Arial" panose="020B0604020202020204" pitchFamily="34" charset="0"/>
                <a:hlinkClick r:id="rId3"/>
              </a:rPr>
              <a:t>https://scikit-learn.org/stable/modules/clustering.html</a:t>
            </a:r>
            <a:endParaRPr lang="en-US" sz="2800" i="1" dirty="0">
              <a:latin typeface="Arial" panose="020B0604020202020204" pitchFamily="34" charset="0"/>
              <a:cs typeface="Arial" panose="020B0604020202020204" pitchFamily="34" charset="0"/>
            </a:endParaRPr>
          </a:p>
          <a:p>
            <a:pPr marL="1234409" indent="-1234409" algn="just">
              <a:buAutoNum type="arabicPeriod"/>
            </a:pPr>
            <a:endParaRPr lang="en-US" sz="2800" i="1" dirty="0">
              <a:latin typeface="Arial" panose="020B0604020202020204" pitchFamily="34" charset="0"/>
              <a:cs typeface="Arial" panose="020B0604020202020204" pitchFamily="34" charset="0"/>
            </a:endParaRPr>
          </a:p>
          <a:p>
            <a:pPr marL="1234409" indent="-1234409" algn="just">
              <a:buAutoNum type="arabicPeriod"/>
            </a:pPr>
            <a:r>
              <a:rPr lang="en-US" sz="2800" i="1" dirty="0">
                <a:latin typeface="Arial" panose="020B0604020202020204" pitchFamily="34" charset="0"/>
                <a:cs typeface="Arial" panose="020B0604020202020204" pitchFamily="34" charset="0"/>
              </a:rPr>
              <a:t>Apartment for Rent Classified [Dataset]. (2019). UCI Machine Learning Repository. </a:t>
            </a:r>
            <a:r>
              <a:rPr lang="en-US" sz="2800" i="1" dirty="0">
                <a:latin typeface="Arial" panose="020B0604020202020204" pitchFamily="34" charset="0"/>
                <a:cs typeface="Arial" panose="020B0604020202020204" pitchFamily="34" charset="0"/>
                <a:hlinkClick r:id="rId4"/>
              </a:rPr>
              <a:t>https://doi.org/10.24432/C5X623</a:t>
            </a:r>
            <a:r>
              <a:rPr lang="en-US" sz="2800" i="1" dirty="0">
                <a:latin typeface="Arial" panose="020B0604020202020204" pitchFamily="34" charset="0"/>
                <a:cs typeface="Arial" panose="020B0604020202020204" pitchFamily="34" charset="0"/>
              </a:rPr>
              <a:t>.</a:t>
            </a:r>
          </a:p>
          <a:p>
            <a:pPr marL="1234409" indent="-1234409" algn="just">
              <a:buAutoNum type="arabicPeriod"/>
            </a:pPr>
            <a:r>
              <a:rPr lang="en-US" sz="2800" i="1" dirty="0">
                <a:latin typeface="Arial" panose="020B0604020202020204" pitchFamily="34" charset="0"/>
                <a:cs typeface="Arial" panose="020B0604020202020204" pitchFamily="34" charset="0"/>
                <a:hlinkClick r:id="rId5"/>
              </a:rPr>
              <a:t>https://finance.yahoo.com/quote/%5EPFE/history/</a:t>
            </a:r>
            <a:endParaRPr lang="en-US" sz="2800" i="1" dirty="0">
              <a:latin typeface="Arial" panose="020B0604020202020204" pitchFamily="34" charset="0"/>
              <a:cs typeface="Arial" panose="020B0604020202020204" pitchFamily="34" charset="0"/>
            </a:endParaRPr>
          </a:p>
          <a:p>
            <a:pPr marL="1234409" indent="-1234409" algn="just">
              <a:buAutoNum type="arabicPeriod"/>
            </a:pPr>
            <a:r>
              <a:rPr lang="en-US" sz="2800" i="1" dirty="0">
                <a:latin typeface="Arial" panose="020B0604020202020204" pitchFamily="34" charset="0"/>
                <a:cs typeface="Arial" panose="020B0604020202020204" pitchFamily="34" charset="0"/>
              </a:rPr>
              <a:t>https://</a:t>
            </a:r>
            <a:r>
              <a:rPr lang="en-US" sz="2800" i="1" dirty="0" err="1">
                <a:latin typeface="Arial" panose="020B0604020202020204" pitchFamily="34" charset="0"/>
                <a:cs typeface="Arial" panose="020B0604020202020204" pitchFamily="34" charset="0"/>
              </a:rPr>
              <a:t>www.geeksforgeeks.org</a:t>
            </a:r>
            <a:r>
              <a:rPr lang="en-US" sz="2800" i="1" dirty="0">
                <a:latin typeface="Arial" panose="020B0604020202020204" pitchFamily="34" charset="0"/>
                <a:cs typeface="Arial" panose="020B0604020202020204" pitchFamily="34" charset="0"/>
              </a:rPr>
              <a:t>/machine-learning/regression-metrics/</a:t>
            </a:r>
          </a:p>
          <a:p>
            <a:pPr marL="1234409" indent="-1234409" algn="just">
              <a:buAutoNum type="arabicPeriod"/>
            </a:pPr>
            <a:endParaRPr lang="en-US" sz="2800" i="1" dirty="0">
              <a:latin typeface="Arial" panose="020B0604020202020204" pitchFamily="34" charset="0"/>
              <a:cs typeface="Arial" panose="020B0604020202020204" pitchFamily="34" charset="0"/>
            </a:endParaRPr>
          </a:p>
          <a:p>
            <a:pPr algn="just"/>
            <a:endParaRPr lang="en-US" sz="2800" i="1" dirty="0">
              <a:latin typeface="Arial" panose="020B0604020202020204" pitchFamily="34" charset="0"/>
              <a:cs typeface="Arial" panose="020B0604020202020204" pitchFamily="34" charset="0"/>
            </a:endParaRPr>
          </a:p>
        </p:txBody>
      </p:sp>
      <p:pic>
        <p:nvPicPr>
          <p:cNvPr id="37" name="Picture 36">
            <a:extLst>
              <a:ext uri="{FF2B5EF4-FFF2-40B4-BE49-F238E27FC236}">
                <a16:creationId xmlns:a16="http://schemas.microsoft.com/office/drawing/2014/main" id="{425F7333-81F8-E94B-51CF-3FD5F7CDD0B1}"/>
              </a:ext>
            </a:extLst>
          </p:cNvPr>
          <p:cNvPicPr>
            <a:picLocks noChangeAspect="1"/>
          </p:cNvPicPr>
          <p:nvPr/>
        </p:nvPicPr>
        <p:blipFill>
          <a:blip r:embed="rId6"/>
          <a:stretch>
            <a:fillRect/>
          </a:stretch>
        </p:blipFill>
        <p:spPr>
          <a:xfrm>
            <a:off x="11719945" y="5968906"/>
            <a:ext cx="9418390" cy="4552726"/>
          </a:xfrm>
          <a:prstGeom prst="rect">
            <a:avLst/>
          </a:prstGeom>
        </p:spPr>
      </p:pic>
      <p:pic>
        <p:nvPicPr>
          <p:cNvPr id="41" name="Picture 40">
            <a:extLst>
              <a:ext uri="{FF2B5EF4-FFF2-40B4-BE49-F238E27FC236}">
                <a16:creationId xmlns:a16="http://schemas.microsoft.com/office/drawing/2014/main" id="{E66E996A-613F-E66B-BEF3-E80AF41BB854}"/>
              </a:ext>
            </a:extLst>
          </p:cNvPr>
          <p:cNvPicPr>
            <a:picLocks noChangeAspect="1"/>
          </p:cNvPicPr>
          <p:nvPr/>
        </p:nvPicPr>
        <p:blipFill>
          <a:blip r:embed="rId7"/>
          <a:stretch>
            <a:fillRect/>
          </a:stretch>
        </p:blipFill>
        <p:spPr>
          <a:xfrm>
            <a:off x="11714811" y="25451770"/>
            <a:ext cx="7316823" cy="5271110"/>
          </a:xfrm>
          <a:prstGeom prst="rect">
            <a:avLst/>
          </a:prstGeom>
        </p:spPr>
      </p:pic>
      <p:sp>
        <p:nvSpPr>
          <p:cNvPr id="42" name="TextBox 41">
            <a:extLst>
              <a:ext uri="{FF2B5EF4-FFF2-40B4-BE49-F238E27FC236}">
                <a16:creationId xmlns:a16="http://schemas.microsoft.com/office/drawing/2014/main" id="{D05D6585-6306-33E7-639D-0F8A937338CC}"/>
              </a:ext>
            </a:extLst>
          </p:cNvPr>
          <p:cNvSpPr txBox="1"/>
          <p:nvPr/>
        </p:nvSpPr>
        <p:spPr>
          <a:xfrm>
            <a:off x="0" y="-33844"/>
            <a:ext cx="43891200" cy="3570208"/>
          </a:xfrm>
          <a:prstGeom prst="rect">
            <a:avLst/>
          </a:prstGeom>
          <a:solidFill>
            <a:srgbClr val="009193">
              <a:alpha val="50196"/>
            </a:srgbClr>
          </a:solidFill>
        </p:spPr>
        <p:txBody>
          <a:bodyPr wrap="square" rtlCol="0">
            <a:spAutoFit/>
          </a:bodyPr>
          <a:lstStyle/>
          <a:p>
            <a:pPr algn="ctr"/>
            <a:r>
              <a:rPr lang="en-US" sz="8600" b="1" dirty="0">
                <a:latin typeface="Arial" panose="020B0604020202020204" pitchFamily="34" charset="0"/>
                <a:cs typeface="Arial" panose="020B0604020202020204" pitchFamily="34" charset="0"/>
              </a:rPr>
              <a:t>                   ‘Segmenting the US Rental Market: Clustering Listings by Price and Size’</a:t>
            </a:r>
          </a:p>
          <a:p>
            <a:pPr algn="ctr"/>
            <a:r>
              <a:rPr lang="en-US" sz="8600" b="1" dirty="0">
                <a:latin typeface="Arial" panose="020B0604020202020204" pitchFamily="34" charset="0"/>
                <a:cs typeface="Arial" panose="020B0604020202020204" pitchFamily="34" charset="0"/>
              </a:rPr>
              <a:t>‘ Forecasting Pfizer Stock Price with ARIMA’</a:t>
            </a:r>
          </a:p>
          <a:p>
            <a:pPr algn="ctr"/>
            <a:r>
              <a:rPr lang="en-US" sz="5400" i="1" dirty="0">
                <a:latin typeface="Arial" panose="020B0604020202020204" pitchFamily="34" charset="0"/>
                <a:cs typeface="Arial" panose="020B0604020202020204" pitchFamily="34" charset="0"/>
              </a:rPr>
              <a:t>Erdene-Undrakh Batjargal, Data Analytics For Business 2026</a:t>
            </a:r>
            <a:endParaRPr lang="en-US" sz="6600" i="1" dirty="0">
              <a:latin typeface="Arial" panose="020B0604020202020204" pitchFamily="34" charset="0"/>
              <a:cs typeface="Arial" panose="020B0604020202020204" pitchFamily="34" charset="0"/>
            </a:endParaRPr>
          </a:p>
        </p:txBody>
      </p:sp>
      <p:sp>
        <p:nvSpPr>
          <p:cNvPr id="47" name="TextBox 46">
            <a:extLst>
              <a:ext uri="{FF2B5EF4-FFF2-40B4-BE49-F238E27FC236}">
                <a16:creationId xmlns:a16="http://schemas.microsoft.com/office/drawing/2014/main" id="{88028159-C76D-0E95-6A68-AF116523C9A5}"/>
              </a:ext>
            </a:extLst>
          </p:cNvPr>
          <p:cNvSpPr txBox="1"/>
          <p:nvPr/>
        </p:nvSpPr>
        <p:spPr>
          <a:xfrm>
            <a:off x="22135049" y="5786265"/>
            <a:ext cx="10440451" cy="3539430"/>
          </a:xfrm>
          <a:prstGeom prst="rect">
            <a:avLst/>
          </a:prstGeom>
          <a:noFill/>
          <a:ln>
            <a:noFill/>
          </a:ln>
        </p:spPr>
        <p:txBody>
          <a:bodyPr wrap="square" rtlCol="0">
            <a:spAutoFit/>
          </a:bodyPr>
          <a:lstStyle/>
          <a:p>
            <a:pPr algn="just"/>
            <a:r>
              <a:rPr lang="en-US" sz="3200" dirty="0">
                <a:latin typeface="Arial" panose="020B0604020202020204" pitchFamily="34" charset="0"/>
                <a:cs typeface="Arial" panose="020B0604020202020204" pitchFamily="34" charset="0"/>
              </a:rPr>
              <a:t>K-Means the elbow curve drops sharply up to k=3, k=4 then flattens, so in terms of that k=4 is a simplicity and fitted. Four clusters separate listings mainly along price and size. ‘A small low-size’, ‘a low- price mid-size’ , ‘a mid –market group’ , and ‘a high-price large-size group’. Centroids show a clear progression from compact, affordable units to large, expensive ones. </a:t>
            </a:r>
          </a:p>
        </p:txBody>
      </p:sp>
      <p:sp>
        <p:nvSpPr>
          <p:cNvPr id="48" name="TextBox 47">
            <a:extLst>
              <a:ext uri="{FF2B5EF4-FFF2-40B4-BE49-F238E27FC236}">
                <a16:creationId xmlns:a16="http://schemas.microsoft.com/office/drawing/2014/main" id="{C50CF12B-5A95-9838-1237-1C3A677DA144}"/>
              </a:ext>
            </a:extLst>
          </p:cNvPr>
          <p:cNvSpPr txBox="1"/>
          <p:nvPr/>
        </p:nvSpPr>
        <p:spPr>
          <a:xfrm>
            <a:off x="22129321" y="11653648"/>
            <a:ext cx="10405423" cy="4031873"/>
          </a:xfrm>
          <a:prstGeom prst="rect">
            <a:avLst/>
          </a:prstGeom>
          <a:noFill/>
        </p:spPr>
        <p:txBody>
          <a:bodyPr wrap="square" rtlCol="0">
            <a:spAutoFit/>
          </a:bodyPr>
          <a:lstStyle/>
          <a:p>
            <a:pPr algn="just"/>
            <a:r>
              <a:rPr lang="en-US" sz="3200" dirty="0">
                <a:latin typeface="Arial" panose="020B0604020202020204" pitchFamily="34" charset="0"/>
                <a:cs typeface="Arial" panose="020B0604020202020204" pitchFamily="34" charset="0"/>
              </a:rPr>
              <a:t>Ward-linkage produced four clusters ordered along a clear price-size gradient: ‘red- a small low-price’ , ‘cyan- a compact mid-low group’, ‘ green a mid-high group’, ‘blue- a large-high price’ groups. The Clusters are similar to former model (K-Means) which suggests the structure is stable among methods. Some boundary overlap between cyan. Green and blue shows that segments are gradual rather than sharply separated. </a:t>
            </a:r>
          </a:p>
        </p:txBody>
      </p:sp>
      <p:sp>
        <p:nvSpPr>
          <p:cNvPr id="49" name="TextBox 48">
            <a:extLst>
              <a:ext uri="{FF2B5EF4-FFF2-40B4-BE49-F238E27FC236}">
                <a16:creationId xmlns:a16="http://schemas.microsoft.com/office/drawing/2014/main" id="{A8CE72CC-B91B-75DB-A6C6-5786A90CE29A}"/>
              </a:ext>
            </a:extLst>
          </p:cNvPr>
          <p:cNvSpPr txBox="1"/>
          <p:nvPr/>
        </p:nvSpPr>
        <p:spPr>
          <a:xfrm>
            <a:off x="22129321" y="17914202"/>
            <a:ext cx="10405423" cy="3046988"/>
          </a:xfrm>
          <a:prstGeom prst="rect">
            <a:avLst/>
          </a:prstGeom>
          <a:noFill/>
        </p:spPr>
        <p:txBody>
          <a:bodyPr wrap="square" rtlCol="0">
            <a:spAutoFit/>
          </a:bodyPr>
          <a:lstStyle/>
          <a:p>
            <a:pPr algn="just"/>
            <a:r>
              <a:rPr lang="en-US" sz="3200" dirty="0">
                <a:latin typeface="Arial" panose="020B0604020202020204" pitchFamily="34" charset="0"/>
                <a:cs typeface="Arial" panose="020B0604020202020204" pitchFamily="34" charset="0"/>
              </a:rPr>
              <a:t>DBSCAN grouped most listings into one dense region and flogged the rest as a noise, so it did not meaningful segments here. </a:t>
            </a:r>
          </a:p>
          <a:p>
            <a:pPr algn="just"/>
            <a:r>
              <a:rPr lang="en-US" sz="3200" dirty="0">
                <a:latin typeface="Arial" panose="020B0604020202020204" pitchFamily="34" charset="0"/>
                <a:cs typeface="Arial" panose="020B0604020202020204" pitchFamily="34" charset="0"/>
              </a:rPr>
              <a:t>It was still useful for spotting extreme listings for example rents near $19.500 or units of about 5000 square feet. </a:t>
            </a:r>
          </a:p>
        </p:txBody>
      </p:sp>
      <p:pic>
        <p:nvPicPr>
          <p:cNvPr id="51" name="Picture 50">
            <a:extLst>
              <a:ext uri="{FF2B5EF4-FFF2-40B4-BE49-F238E27FC236}">
                <a16:creationId xmlns:a16="http://schemas.microsoft.com/office/drawing/2014/main" id="{B19A0931-7AA1-FE29-8845-9F14ECF936EF}"/>
              </a:ext>
            </a:extLst>
          </p:cNvPr>
          <p:cNvPicPr>
            <a:picLocks noChangeAspect="1"/>
          </p:cNvPicPr>
          <p:nvPr/>
        </p:nvPicPr>
        <p:blipFill>
          <a:blip r:embed="rId8"/>
          <a:stretch>
            <a:fillRect/>
          </a:stretch>
        </p:blipFill>
        <p:spPr>
          <a:xfrm>
            <a:off x="11714810" y="11594797"/>
            <a:ext cx="9423525" cy="5164459"/>
          </a:xfrm>
          <a:prstGeom prst="rect">
            <a:avLst/>
          </a:prstGeom>
        </p:spPr>
      </p:pic>
      <p:sp>
        <p:nvSpPr>
          <p:cNvPr id="53" name="TextBox 52">
            <a:extLst>
              <a:ext uri="{FF2B5EF4-FFF2-40B4-BE49-F238E27FC236}">
                <a16:creationId xmlns:a16="http://schemas.microsoft.com/office/drawing/2014/main" id="{A5D14906-312E-1A68-FA7E-FA98F228CDC2}"/>
              </a:ext>
            </a:extLst>
          </p:cNvPr>
          <p:cNvSpPr txBox="1"/>
          <p:nvPr/>
        </p:nvSpPr>
        <p:spPr>
          <a:xfrm>
            <a:off x="12165284" y="10627962"/>
            <a:ext cx="8973051" cy="707886"/>
          </a:xfrm>
          <a:prstGeom prst="rect">
            <a:avLst/>
          </a:prstGeom>
          <a:noFill/>
        </p:spPr>
        <p:txBody>
          <a:bodyPr wrap="square" rtlCol="0">
            <a:spAutoFit/>
          </a:bodyPr>
          <a:lstStyle/>
          <a:p>
            <a:pPr algn="just"/>
            <a:r>
              <a:rPr lang="en-US" sz="2000" b="1" dirty="0">
                <a:latin typeface="Arial" panose="020B0604020202020204" pitchFamily="34" charset="0"/>
                <a:cs typeface="Arial" panose="020B0604020202020204" pitchFamily="34" charset="0"/>
              </a:rPr>
              <a:t>Figure1</a:t>
            </a:r>
            <a:r>
              <a:rPr lang="en-US" sz="2000" dirty="0">
                <a:latin typeface="Arial" panose="020B0604020202020204" pitchFamily="34" charset="0"/>
                <a:cs typeface="Arial" panose="020B0604020202020204" pitchFamily="34" charset="0"/>
              </a:rPr>
              <a:t>. K-Means (k = 4) clusters of listings by price and square footage (standardized). Yellow dots mark centroids.</a:t>
            </a:r>
          </a:p>
        </p:txBody>
      </p:sp>
      <p:sp>
        <p:nvSpPr>
          <p:cNvPr id="54" name="TextBox 53">
            <a:extLst>
              <a:ext uri="{FF2B5EF4-FFF2-40B4-BE49-F238E27FC236}">
                <a16:creationId xmlns:a16="http://schemas.microsoft.com/office/drawing/2014/main" id="{5D309B67-1850-DD35-9D46-7BB8F7D94C6A}"/>
              </a:ext>
            </a:extLst>
          </p:cNvPr>
          <p:cNvSpPr txBox="1"/>
          <p:nvPr/>
        </p:nvSpPr>
        <p:spPr>
          <a:xfrm>
            <a:off x="11714810" y="22952000"/>
            <a:ext cx="9749423" cy="707886"/>
          </a:xfrm>
          <a:prstGeom prst="rect">
            <a:avLst/>
          </a:prstGeom>
          <a:noFill/>
        </p:spPr>
        <p:txBody>
          <a:bodyPr wrap="square" rtlCol="0">
            <a:spAutoFit/>
          </a:bodyPr>
          <a:lstStyle/>
          <a:p>
            <a:pPr algn="just"/>
            <a:r>
              <a:rPr lang="en-US" sz="2000" b="1" dirty="0">
                <a:latin typeface="Arial" panose="020B0604020202020204" pitchFamily="34" charset="0"/>
                <a:cs typeface="Arial" panose="020B0604020202020204" pitchFamily="34" charset="0"/>
              </a:rPr>
              <a:t>Figure3</a:t>
            </a:r>
            <a:r>
              <a:rPr lang="en-US" sz="2000" dirty="0">
                <a:latin typeface="Arial" panose="020B0604020202020204" pitchFamily="34" charset="0"/>
                <a:cs typeface="Arial" panose="020B0604020202020204" pitchFamily="34" charset="0"/>
              </a:rPr>
              <a:t>. DBSCAN on price and square footage: most points form one dense group or noise; useful mainly for outliers.</a:t>
            </a:r>
          </a:p>
        </p:txBody>
      </p:sp>
      <p:sp>
        <p:nvSpPr>
          <p:cNvPr id="55" name="TextBox 54">
            <a:extLst>
              <a:ext uri="{FF2B5EF4-FFF2-40B4-BE49-F238E27FC236}">
                <a16:creationId xmlns:a16="http://schemas.microsoft.com/office/drawing/2014/main" id="{C4E2A96F-B8AB-0486-E5DC-062754AEF0C4}"/>
              </a:ext>
            </a:extLst>
          </p:cNvPr>
          <p:cNvSpPr txBox="1"/>
          <p:nvPr/>
        </p:nvSpPr>
        <p:spPr>
          <a:xfrm>
            <a:off x="12430728" y="16759256"/>
            <a:ext cx="8707607" cy="707886"/>
          </a:xfrm>
          <a:prstGeom prst="rect">
            <a:avLst/>
          </a:prstGeom>
          <a:noFill/>
        </p:spPr>
        <p:txBody>
          <a:bodyPr wrap="square" rtlCol="0">
            <a:spAutoFit/>
          </a:bodyPr>
          <a:lstStyle/>
          <a:p>
            <a:pPr algn="just"/>
            <a:r>
              <a:rPr lang="en-US" sz="2000" b="1" dirty="0">
                <a:latin typeface="Arial" panose="020B0604020202020204" pitchFamily="34" charset="0"/>
                <a:cs typeface="Arial" panose="020B0604020202020204" pitchFamily="34" charset="0"/>
              </a:rPr>
              <a:t>Figure2.</a:t>
            </a:r>
            <a:r>
              <a:rPr lang="en-US" sz="2000" dirty="0">
                <a:latin typeface="Arial" panose="020B0604020202020204" pitchFamily="34" charset="0"/>
                <a:cs typeface="Arial" panose="020B0604020202020204" pitchFamily="34" charset="0"/>
              </a:rPr>
              <a:t> Hierarchical clustering (Ward, k = 4) of listings by standardized price and square footage.</a:t>
            </a:r>
          </a:p>
        </p:txBody>
      </p:sp>
      <p:sp>
        <p:nvSpPr>
          <p:cNvPr id="56" name="TextBox 55">
            <a:extLst>
              <a:ext uri="{FF2B5EF4-FFF2-40B4-BE49-F238E27FC236}">
                <a16:creationId xmlns:a16="http://schemas.microsoft.com/office/drawing/2014/main" id="{92C363D0-A4AC-41DF-9F82-5F500A9F3700}"/>
              </a:ext>
            </a:extLst>
          </p:cNvPr>
          <p:cNvSpPr txBox="1"/>
          <p:nvPr/>
        </p:nvSpPr>
        <p:spPr>
          <a:xfrm>
            <a:off x="33140219" y="5032917"/>
            <a:ext cx="9749423" cy="6986528"/>
          </a:xfrm>
          <a:prstGeom prst="rect">
            <a:avLst/>
          </a:prstGeom>
          <a:noFill/>
        </p:spPr>
        <p:txBody>
          <a:bodyPr wrap="square" rtlCol="0">
            <a:spAutoFit/>
          </a:bodyPr>
          <a:lstStyle/>
          <a:p>
            <a:pPr lvl="0"/>
            <a:r>
              <a:rPr lang="en-US" sz="3200" dirty="0">
                <a:latin typeface="Arial" panose="020B0604020202020204" pitchFamily="34" charset="0"/>
                <a:cs typeface="Arial" panose="020B0604020202020204" pitchFamily="34" charset="0"/>
              </a:rPr>
              <a:t>ARIMA(2, 1, 2) follows the overall movement of the price closely (Fig. 1).</a:t>
            </a:r>
          </a:p>
          <a:p>
            <a:pPr lvl="0"/>
            <a:r>
              <a:rPr lang="en-US" sz="3200" dirty="0">
                <a:latin typeface="Arial" panose="020B0604020202020204" pitchFamily="34" charset="0"/>
                <a:cs typeface="Arial" panose="020B0604020202020204" pitchFamily="34" charset="0"/>
              </a:rPr>
              <a:t>The 80% and 95% confidence intervals widen as the forecast horizon increases, showing growing uncertainty (Fig. 2).</a:t>
            </a:r>
          </a:p>
          <a:p>
            <a:r>
              <a:rPr lang="en-US" sz="3200" dirty="0">
                <a:latin typeface="Arial" panose="020B0604020202020204" pitchFamily="34" charset="0"/>
                <a:cs typeface="Arial" panose="020B0604020202020204" pitchFamily="34" charset="0"/>
              </a:rPr>
              <a:t>Test-set performance: On the test set, the model achieved an R² score of 0.9943, indicating that it explains approximately 99.4% of the variance in the observed prices. Because R² computed on price levels tends to be high for trending series.</a:t>
            </a:r>
          </a:p>
          <a:p>
            <a:pPr lvl="0"/>
            <a:r>
              <a:rPr lang="en-US" sz="3200" dirty="0">
                <a:latin typeface="Arial" panose="020B0604020202020204" pitchFamily="34" charset="0"/>
                <a:cs typeface="Arial" panose="020B0604020202020204" pitchFamily="34" charset="0"/>
              </a:rPr>
              <a:t>The RMSE is 0.43 and the MAE is 0.30 (in price units), meaning that forecasts deviate from the actual prices by about 0.30 on average, with larger errors penalized more heavily in the RMSE. </a:t>
            </a:r>
          </a:p>
        </p:txBody>
      </p:sp>
      <p:sp>
        <p:nvSpPr>
          <p:cNvPr id="57" name="TextBox 56">
            <a:extLst>
              <a:ext uri="{FF2B5EF4-FFF2-40B4-BE49-F238E27FC236}">
                <a16:creationId xmlns:a16="http://schemas.microsoft.com/office/drawing/2014/main" id="{BC2CEAD9-1B06-4A8D-708B-8D09BB399574}"/>
              </a:ext>
            </a:extLst>
          </p:cNvPr>
          <p:cNvSpPr txBox="1"/>
          <p:nvPr/>
        </p:nvSpPr>
        <p:spPr>
          <a:xfrm>
            <a:off x="11559103" y="30722880"/>
            <a:ext cx="10176264" cy="400110"/>
          </a:xfrm>
          <a:prstGeom prst="rect">
            <a:avLst/>
          </a:prstGeom>
          <a:noFill/>
        </p:spPr>
        <p:txBody>
          <a:bodyPr wrap="square" rtlCol="0">
            <a:spAutoFit/>
          </a:bodyPr>
          <a:lstStyle/>
          <a:p>
            <a:pPr lvl="0" algn="just"/>
            <a:r>
              <a:rPr lang="en-US" sz="2000" b="1" dirty="0">
                <a:latin typeface="Arial" panose="020B0604020202020204" pitchFamily="34" charset="0"/>
                <a:cs typeface="Arial" panose="020B0604020202020204" pitchFamily="34" charset="0"/>
              </a:rPr>
              <a:t>Figure 1.</a:t>
            </a:r>
            <a:r>
              <a:rPr lang="en-US" sz="2000" dirty="0">
                <a:latin typeface="Arial" panose="020B0604020202020204" pitchFamily="34" charset="0"/>
                <a:cs typeface="Arial" panose="020B0604020202020204" pitchFamily="34" charset="0"/>
              </a:rPr>
              <a:t> ARIMA(2, 1, 2) fitted values versus actual Pfizer closing price.</a:t>
            </a:r>
          </a:p>
        </p:txBody>
      </p:sp>
      <p:sp>
        <p:nvSpPr>
          <p:cNvPr id="58" name="TextBox 57">
            <a:extLst>
              <a:ext uri="{FF2B5EF4-FFF2-40B4-BE49-F238E27FC236}">
                <a16:creationId xmlns:a16="http://schemas.microsoft.com/office/drawing/2014/main" id="{C2B689D9-70C4-712F-A7B0-BB879BCC2753}"/>
              </a:ext>
            </a:extLst>
          </p:cNvPr>
          <p:cNvSpPr txBox="1"/>
          <p:nvPr/>
        </p:nvSpPr>
        <p:spPr>
          <a:xfrm>
            <a:off x="22183110" y="30538213"/>
            <a:ext cx="9116719" cy="400110"/>
          </a:xfrm>
          <a:prstGeom prst="rect">
            <a:avLst/>
          </a:prstGeom>
          <a:noFill/>
        </p:spPr>
        <p:txBody>
          <a:bodyPr wrap="square" rtlCol="0">
            <a:spAutoFit/>
          </a:bodyPr>
          <a:lstStyle/>
          <a:p>
            <a:pPr algn="just"/>
            <a:r>
              <a:rPr lang="en-US" sz="2000" b="1" dirty="0">
                <a:latin typeface="Arial" panose="020B0604020202020204" pitchFamily="34" charset="0"/>
                <a:cs typeface="Arial" panose="020B0604020202020204" pitchFamily="34" charset="0"/>
              </a:rPr>
              <a:t>Figure 2. </a:t>
            </a:r>
            <a:r>
              <a:rPr lang="en-US" sz="2000" dirty="0">
                <a:latin typeface="Arial" panose="020B0604020202020204" pitchFamily="34" charset="0"/>
                <a:cs typeface="Arial" panose="020B0604020202020204" pitchFamily="34" charset="0"/>
              </a:rPr>
              <a:t>ARIMA forecast with 80% and 95% confidence intervals.</a:t>
            </a:r>
          </a:p>
        </p:txBody>
      </p:sp>
      <p:sp>
        <p:nvSpPr>
          <p:cNvPr id="59" name="TextBox 58">
            <a:extLst>
              <a:ext uri="{FF2B5EF4-FFF2-40B4-BE49-F238E27FC236}">
                <a16:creationId xmlns:a16="http://schemas.microsoft.com/office/drawing/2014/main" id="{6E33DB04-3802-EE2B-5707-2578F2D9FEFD}"/>
              </a:ext>
            </a:extLst>
          </p:cNvPr>
          <p:cNvSpPr txBox="1"/>
          <p:nvPr/>
        </p:nvSpPr>
        <p:spPr>
          <a:xfrm>
            <a:off x="33140219" y="18780079"/>
            <a:ext cx="9749423" cy="5016758"/>
          </a:xfrm>
          <a:prstGeom prst="rect">
            <a:avLst/>
          </a:prstGeom>
          <a:noFill/>
        </p:spPr>
        <p:txBody>
          <a:bodyPr wrap="square" rtlCol="0">
            <a:spAutoFit/>
          </a:bodyPr>
          <a:lstStyle/>
          <a:p>
            <a:pPr lvl="0" algn="just"/>
            <a:endParaRPr lang="en-US" sz="3200" dirty="0">
              <a:latin typeface="Arial" panose="020B0604020202020204" pitchFamily="34" charset="0"/>
              <a:cs typeface="Arial" panose="020B0604020202020204" pitchFamily="34" charset="0"/>
            </a:endParaRPr>
          </a:p>
          <a:p>
            <a:pPr lvl="0" algn="just"/>
            <a:r>
              <a:rPr lang="en-US" sz="3200" dirty="0">
                <a:latin typeface="Arial" panose="020B0604020202020204" pitchFamily="34" charset="0"/>
                <a:cs typeface="Arial" panose="020B0604020202020204" pitchFamily="34" charset="0"/>
              </a:rPr>
              <a:t>ARIMA captures short-term dynamics but cannot anticipate sudden events (e.g. the 2021-2022 peak and fall), because it only uses past prices. Forecasts beyond a few steps revert towards a trend and have wide intervals. ARIMA is a simple, interpretable baseline for short-term forecasting.</a:t>
            </a:r>
          </a:p>
          <a:p>
            <a:pPr lvl="0" algn="just"/>
            <a:r>
              <a:rPr lang="en-US" sz="3200" dirty="0">
                <a:latin typeface="Arial" panose="020B0604020202020204" pitchFamily="34" charset="0"/>
                <a:cs typeface="Arial" panose="020B0604020202020204" pitchFamily="34" charset="0"/>
              </a:rPr>
              <a:t>Limitations: no external variables (news, market indices, volume), assumes constant variance, results depend on the test period.</a:t>
            </a:r>
          </a:p>
        </p:txBody>
      </p:sp>
      <p:sp>
        <p:nvSpPr>
          <p:cNvPr id="60" name="TextBox 59">
            <a:extLst>
              <a:ext uri="{FF2B5EF4-FFF2-40B4-BE49-F238E27FC236}">
                <a16:creationId xmlns:a16="http://schemas.microsoft.com/office/drawing/2014/main" id="{F7683826-409C-9565-7808-81142291E1F0}"/>
              </a:ext>
            </a:extLst>
          </p:cNvPr>
          <p:cNvSpPr txBox="1"/>
          <p:nvPr/>
        </p:nvSpPr>
        <p:spPr>
          <a:xfrm>
            <a:off x="33140219" y="14138321"/>
            <a:ext cx="9749423" cy="5016758"/>
          </a:xfrm>
          <a:prstGeom prst="rect">
            <a:avLst/>
          </a:prstGeom>
          <a:noFill/>
        </p:spPr>
        <p:txBody>
          <a:bodyPr wrap="square" rtlCol="0">
            <a:spAutoFit/>
          </a:bodyPr>
          <a:lstStyle/>
          <a:p>
            <a:pPr lvl="0" algn="just"/>
            <a:r>
              <a:rPr lang="en-US" sz="3200" dirty="0">
                <a:latin typeface="Arial" panose="020B0604020202020204" pitchFamily="34" charset="0"/>
                <a:cs typeface="Arial" panose="020B0604020202020204" pitchFamily="34" charset="0"/>
              </a:rPr>
              <a:t>Rental listings form a continuous spectrum rather than sharply separated groups, so K-Means and Hierarchy Agglomerative which partitions the whole space, suits this data better than DBSCAN, which looks for density gaps that barely exist.</a:t>
            </a:r>
          </a:p>
          <a:p>
            <a:pPr lvl="0" algn="just"/>
            <a:r>
              <a:rPr lang="en-US" sz="3200" dirty="0">
                <a:latin typeface="Arial" panose="020B0604020202020204" pitchFamily="34" charset="0"/>
                <a:cs typeface="Arial" panose="020B0604020202020204" pitchFamily="34" charset="0"/>
              </a:rPr>
              <a:t>Four market segments were identified and can support pricing and search tools.</a:t>
            </a:r>
          </a:p>
          <a:p>
            <a:pPr lvl="0" algn="just"/>
            <a:r>
              <a:rPr lang="en-US" sz="3200" dirty="0">
                <a:latin typeface="Arial" panose="020B0604020202020204" pitchFamily="34" charset="0"/>
                <a:cs typeface="Arial" panose="020B0604020202020204" pitchFamily="34" charset="0"/>
              </a:rPr>
              <a:t>There is  only two main variables drive the clusters; listing prices are asking prices; location was not used in clustering. </a:t>
            </a:r>
          </a:p>
        </p:txBody>
      </p:sp>
      <p:sp>
        <p:nvSpPr>
          <p:cNvPr id="65" name="TextBox 64">
            <a:extLst>
              <a:ext uri="{FF2B5EF4-FFF2-40B4-BE49-F238E27FC236}">
                <a16:creationId xmlns:a16="http://schemas.microsoft.com/office/drawing/2014/main" id="{C0D54263-D3B9-8C87-0BDE-B4D6C4E3448B}"/>
              </a:ext>
            </a:extLst>
          </p:cNvPr>
          <p:cNvSpPr txBox="1"/>
          <p:nvPr/>
        </p:nvSpPr>
        <p:spPr>
          <a:xfrm>
            <a:off x="13685388" y="24048248"/>
            <a:ext cx="3375668" cy="769441"/>
          </a:xfrm>
          <a:prstGeom prst="rect">
            <a:avLst/>
          </a:prstGeom>
          <a:noFill/>
        </p:spPr>
        <p:txBody>
          <a:bodyPr wrap="none" rtlCol="0">
            <a:spAutoFit/>
          </a:bodyPr>
          <a:lstStyle/>
          <a:p>
            <a:pPr algn="just"/>
            <a:r>
              <a:rPr lang="en-US" sz="4400" b="1" u="sng" dirty="0">
                <a:latin typeface="Arial" panose="020B0604020202020204" pitchFamily="34" charset="0"/>
                <a:cs typeface="Arial" panose="020B0604020202020204" pitchFamily="34" charset="0"/>
              </a:rPr>
              <a:t>Time-Series</a:t>
            </a:r>
          </a:p>
        </p:txBody>
      </p:sp>
      <p:pic>
        <p:nvPicPr>
          <p:cNvPr id="68" name="Google Shape;84;p1" descr="A picture containing object, sitting, computer, computer&#10;&#10;Description automatically generated">
            <a:extLst>
              <a:ext uri="{FF2B5EF4-FFF2-40B4-BE49-F238E27FC236}">
                <a16:creationId xmlns:a16="http://schemas.microsoft.com/office/drawing/2014/main" id="{7274DE33-CF68-0CBC-6FA3-02178FC1B28F}"/>
              </a:ext>
            </a:extLst>
          </p:cNvPr>
          <p:cNvPicPr preferRelativeResize="0"/>
          <p:nvPr/>
        </p:nvPicPr>
        <p:blipFill rotWithShape="1">
          <a:blip r:embed="rId9">
            <a:alphaModFix/>
          </a:blip>
          <a:srcRect/>
          <a:stretch/>
        </p:blipFill>
        <p:spPr>
          <a:xfrm>
            <a:off x="704885" y="813873"/>
            <a:ext cx="4875866" cy="937387"/>
          </a:xfrm>
          <a:prstGeom prst="rect">
            <a:avLst/>
          </a:prstGeom>
          <a:noFill/>
          <a:ln>
            <a:noFill/>
          </a:ln>
        </p:spPr>
      </p:pic>
      <p:pic>
        <p:nvPicPr>
          <p:cNvPr id="70" name="Picture 69">
            <a:extLst>
              <a:ext uri="{FF2B5EF4-FFF2-40B4-BE49-F238E27FC236}">
                <a16:creationId xmlns:a16="http://schemas.microsoft.com/office/drawing/2014/main" id="{EDB1835E-FF99-7D7B-C4E3-7FDA7A15B695}"/>
              </a:ext>
            </a:extLst>
          </p:cNvPr>
          <p:cNvPicPr>
            <a:picLocks noChangeAspect="1"/>
          </p:cNvPicPr>
          <p:nvPr/>
        </p:nvPicPr>
        <p:blipFill>
          <a:blip r:embed="rId10"/>
          <a:stretch>
            <a:fillRect/>
          </a:stretch>
        </p:blipFill>
        <p:spPr>
          <a:xfrm>
            <a:off x="21914706" y="26071388"/>
            <a:ext cx="10620038" cy="4031873"/>
          </a:xfrm>
          <a:prstGeom prst="rect">
            <a:avLst/>
          </a:prstGeom>
        </p:spPr>
      </p:pic>
    </p:spTree>
    <p:extLst>
      <p:ext uri="{BB962C8B-B14F-4D97-AF65-F5344CB8AC3E}">
        <p14:creationId xmlns:p14="http://schemas.microsoft.com/office/powerpoint/2010/main" val="99500042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2437</TotalTime>
  <Words>1105</Words>
  <Application>Microsoft Macintosh PowerPoint</Application>
  <PresentationFormat>Custom</PresentationFormat>
  <Paragraphs>50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Erdene  Undrakh</dc:creator>
  <cp:lastModifiedBy>Erdene  Undrakh</cp:lastModifiedBy>
  <cp:revision>6</cp:revision>
  <dcterms:created xsi:type="dcterms:W3CDTF">2026-10-18T18:38:55Z</dcterms:created>
  <dcterms:modified xsi:type="dcterms:W3CDTF">2026-10-22T12:48:00Z</dcterms:modified>
</cp:coreProperties>
</file>